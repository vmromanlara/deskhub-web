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4F4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3314700"/>
            <a:ext cx="4572000" cy="4572000"/>
          </a:xfrm>
          <a:prstGeom prst="ellipse">
            <a:avLst/>
          </a:prstGeom>
          <a:solidFill>
            <a:srgbClr val="6EE7D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0D4F4A"/>
          </a:solidFill>
          <a:ln w="12700">
            <a:solidFill>
              <a:srgbClr val="6EE7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1481328"/>
            <a:ext cx="0" cy="566928"/>
          </a:xfrm>
          <a:prstGeom prst="line">
            <a:avLst/>
          </a:prstGeom>
          <a:noFill/>
          <a:ln w="19050">
            <a:solidFill>
              <a:srgbClr val="6EE7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682496"/>
            <a:ext cx="118872" cy="118872"/>
          </a:xfrm>
          <a:prstGeom prst="ellipse">
            <a:avLst/>
          </a:prstGeom>
          <a:solidFill>
            <a:srgbClr val="D9EAE7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682496"/>
            <a:ext cx="118872" cy="118872"/>
          </a:xfrm>
          <a:prstGeom prst="ellipse">
            <a:avLst/>
          </a:prstGeom>
          <a:solidFill>
            <a:srgbClr val="D9EAE7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325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de Trabajo Empresarial e Institucional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48640" cy="0"/>
          </a:xfrm>
          <a:prstGeom prst="line">
            <a:avLst/>
          </a:prstGeom>
          <a:noFill/>
          <a:ln w="25400">
            <a:solidFill>
              <a:srgbClr val="6E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organización. Tus sistemas. Un solo ecosistema de trabajo.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evitar dependencia estructural y preservar interoperabilidad y portabilidad.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LAB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320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Septiembre 2026 · v1.2.1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" cy="109728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Lab presenta DeskHUB.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tecnología para que las organizaciones trabajen mejor.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146304" cy="146304"/>
          </a:xfrm>
          <a:prstGeom prst="ellipse">
            <a:avLst/>
          </a:prstGeom>
          <a:solidFill>
            <a:srgbClr val="0D4F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claims absolutos.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datos verificados. Sin cifras inventadas.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146304" cy="146304"/>
          </a:xfrm>
          <a:prstGeom prst="ellipse">
            <a:avLst/>
          </a:prstGeom>
          <a:solidFill>
            <a:srgbClr val="0D4F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honesta.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39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está debajo; la experiencia arriba.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146304" cy="146304"/>
          </a:xfrm>
          <a:prstGeom prst="ellipse">
            <a:avLst/>
          </a:prstGeom>
          <a:solidFill>
            <a:srgbClr val="0D4F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enterprise.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1879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preciso, sistema visual sobrio, status claros.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fragmentación tecnológica no es un detalle. Es el problema central.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sistema.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2468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889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otro.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tercero.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880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2468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chat.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se reconstruye a mano todos los días. La organización opera en modo patchwork.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EL COSTO (cualitativo)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fragmentación cuesta.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cualitativa. Sin cifras inventadas.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164592" cy="164592"/>
          </a:xfrm>
          <a:prstGeom prst="rect">
            <a:avLst/>
          </a:prstGeom>
          <a:solidFill>
            <a:srgbClr val="B3331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contexto cada vez que cambia un sistema.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164592" cy="164592"/>
          </a:xfrm>
          <a:prstGeom prst="rect">
            <a:avLst/>
          </a:prstGeom>
          <a:solidFill>
            <a:srgbClr val="B333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788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vive en 3 lugares. ¿Cuál es la verdad?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64592" cy="164592"/>
          </a:xfrm>
          <a:prstGeom prst="rect">
            <a:avLst/>
          </a:prstGeom>
          <a:solidFill>
            <a:srgbClr val="B333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291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manuales entre sistemas = pasos que se olvidan.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164592" cy="164592"/>
          </a:xfrm>
          <a:prstGeom prst="rect">
            <a:avLst/>
          </a:prstGeom>
          <a:solidFill>
            <a:srgbClr val="B3331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3794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lentas por falta de cuadro único.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164592" cy="164592"/>
          </a:xfrm>
          <a:prstGeom prst="rect">
            <a:avLst/>
          </a:prstGeom>
          <a:solidFill>
            <a:srgbClr val="B3331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persona se va, el conocimiento se va con ella.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EL CAMBIO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software aislado al ecosistema de trabajo.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aislado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355848"/>
            <a:ext cx="73152" cy="73152"/>
          </a:xfrm>
          <a:prstGeom prst="ellipse">
            <a:avLst/>
          </a:prstGeom>
          <a:solidFill>
            <a:srgbClr val="7C7A7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pantalla por sistema.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630168"/>
            <a:ext cx="73152" cy="73152"/>
          </a:xfrm>
          <a:prstGeom prst="ellipse">
            <a:avLst/>
          </a:prstGeom>
          <a:solidFill>
            <a:srgbClr val="7C7A7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duplicados.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904488"/>
            <a:ext cx="73152" cy="73152"/>
          </a:xfrm>
          <a:prstGeom prst="ellipse">
            <a:avLst/>
          </a:prstGeom>
          <a:solidFill>
            <a:srgbClr val="7C7A7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en chat.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73152" cy="73152"/>
          </a:xfrm>
          <a:prstGeom prst="ellipse">
            <a:avLst/>
          </a:prstGeom>
          <a:solidFill>
            <a:srgbClr val="7C7A7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 cabezas.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0D4F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de trabajo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983480" y="3355848"/>
            <a:ext cx="73152" cy="73152"/>
          </a:xfrm>
          <a:prstGeom prst="ellipse">
            <a:avLst/>
          </a:prstGeom>
          <a:solidFill>
            <a:srgbClr val="6EE7D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superficie coherente.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3630168"/>
            <a:ext cx="73152" cy="73152"/>
          </a:xfrm>
          <a:prstGeom prst="ellipse">
            <a:avLst/>
          </a:prstGeom>
          <a:solidFill>
            <a:srgbClr val="6EE7DF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preservado.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3904488"/>
            <a:ext cx="73152" cy="73152"/>
          </a:xfrm>
          <a:prstGeom prst="ellipse">
            <a:avLst/>
          </a:prstGeom>
          <a:solidFill>
            <a:srgbClr val="6EE7DF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auditables.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4178808"/>
            <a:ext cx="73152" cy="73152"/>
          </a:xfrm>
          <a:prstGeom prst="ellipse">
            <a:avLst/>
          </a:prstGeom>
          <a:solidFill>
            <a:srgbClr val="6EE7DF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como activo.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¿QUÉ ES DESKHUB?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es el ecosistema de Fabric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conectar, integrar y organizar la forma en que tu organización trabaja.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evitar dependencia estructural y preservar interoperabilidad.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514600"/>
            <a:ext cx="4023360" cy="2377440"/>
          </a:xfrm>
          <a:prstGeom prst="ellipse">
            <a:avLst/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2788920"/>
            <a:ext cx="3108960" cy="1828800"/>
          </a:xfrm>
          <a:prstGeom prst="ellipse">
            <a:avLst/>
          </a:prstGeom>
          <a:solidFill>
            <a:srgbClr val="D9EAE7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2544318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0D4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54431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92416" y="3068955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0D4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2416" y="3068955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DeskNow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92416" y="4118229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0D4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2416" y="4118229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DeskSolution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4642866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0D4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464286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DeskBrain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54304" y="4118229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0D4F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4304" y="4118229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DeskThing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54304" y="3068955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0D4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54304" y="3068955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77640" y="3337560"/>
            <a:ext cx="1188720" cy="731520"/>
          </a:xfrm>
          <a:prstGeom prst="ellipse">
            <a:avLst/>
          </a:prstGeom>
          <a:solidFill>
            <a:srgbClr val="0D4F4A"/>
          </a:solidFill>
          <a:ln/>
        </p:spPr>
      </p:sp>
      <p:sp>
        <p:nvSpPr>
          <p:cNvPr id="24" name="Text 22"/>
          <p:cNvSpPr/>
          <p:nvPr/>
        </p:nvSpPr>
        <p:spPr>
          <a:xfrm>
            <a:off x="397764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3630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457200" cy="0"/>
          </a:xfrm>
          <a:prstGeom prst="line">
            <a:avLst/>
          </a:prstGeom>
          <a:noFill/>
          <a:ln w="25400">
            <a:solidFill>
              <a:srgbClr val="0D4F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se integra detrás de DeskWork.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trabaja desde DeskWork.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ARQUITECTURA DEL ECOSISTEMA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construido DeskHUB.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0" y="1417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7C7A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LAB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783080"/>
            <a:ext cx="0" cy="164592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96596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0A3D39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74520" y="2377440"/>
            <a:ext cx="0" cy="164592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60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AF8F2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Workspace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DeskCore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364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Desk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5295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DeskFlow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0" cy="164592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2560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AF8F2"/>
          </a:solidFill>
          <a:ln w="12700">
            <a:solidFill>
              <a:srgbClr val="0A3D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DESKNOW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Solutions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200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Departments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3364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5295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Modules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6941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Submodules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858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Verticals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4023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Solutions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2377440"/>
            <a:ext cx="0" cy="164592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560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AF8F2"/>
          </a:solidFill>
          <a:ln w="12700">
            <a:solidFill>
              <a:srgbClr val="3A42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DESKSOLUTION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2926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200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Línea comercial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364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 usa capacidades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5295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del ecosistema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4023360"/>
            <a:ext cx="0" cy="164592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06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CAPABILITIES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0" y="4526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D9EAE7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DeskBrain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023360" y="4526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D9EAE7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DeskThing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526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D9EAE7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DesksIA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DESKWORK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MVP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DeskWork. La superficie del ecosistema.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el usuario trabaja. La plataforma que navega.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D4F4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359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Workspace (surface)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3063240"/>
            <a:ext cx="0" cy="18288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2918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(sustains)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063240"/>
            <a:ext cx="0" cy="18288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32918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(connects)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3063240"/>
            <a:ext cx="0" cy="18288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32918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(coordinates &amp; executes)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mnemónico: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“DeskCore sostiene. Desk Integration conecta. DeskFlow coordina y ejecuta. DeskWork presenta.”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DESKWORK — ESTACIÓN DE TRABAJO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MVP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estación para cada persona.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entra. Su identidad determina lo que 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2400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286000"/>
            <a:ext cx="6400800" cy="320040"/>
          </a:xfrm>
          <a:prstGeom prst="roundRect">
            <a:avLst>
              <a:gd name="adj" fmla="val 17143"/>
            </a:avLst>
          </a:prstGeom>
          <a:solidFill>
            <a:srgbClr val="FAF8F2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377440"/>
            <a:ext cx="137160" cy="137160"/>
          </a:xfrm>
          <a:prstGeom prst="ellipse">
            <a:avLst/>
          </a:prstGeom>
          <a:solidFill>
            <a:srgbClr val="E9E3D6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2377440"/>
            <a:ext cx="137160" cy="137160"/>
          </a:xfrm>
          <a:prstGeom prst="ellipse">
            <a:avLst/>
          </a:prstGeom>
          <a:solidFill>
            <a:srgbClr val="E9E3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874520" y="2377440"/>
            <a:ext cx="137160" cy="137160"/>
          </a:xfrm>
          <a:prstGeom prst="ellipse">
            <a:avLst/>
          </a:prstGeom>
          <a:solidFill>
            <a:srgbClr val="E9E3D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deskwork.app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606040"/>
            <a:ext cx="1463040" cy="196596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Crítico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3063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3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466344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Alto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063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621792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Normal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063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3108960" y="3749040"/>
            <a:ext cx="4480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840480"/>
            <a:ext cx="54864" cy="54864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#4821 Impresora sin conexión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54864" cy="548640"/>
          </a:xfrm>
          <a:prstGeom prst="rect">
            <a:avLst/>
          </a:prstGeom>
          <a:solidFill>
            <a:srgbClr val="B3331F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#4820 No entra al correo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840480"/>
            <a:ext cx="54864" cy="54864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#4819 Solicitud de acceso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DESKNOW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D9EAE7"/>
          </a:solidFill>
          <a:ln w="9525">
            <a:solidFill>
              <a:srgbClr val="D9EA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Emerging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DeskNow. Familia de soluciones funcionales nativas.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en tres dimensiones distintas. Vertical y Solución NO son niveles jerárquicos.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funcional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(jerárquica)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821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· OPERACIONES · RR.HH.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5478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91363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Submódulos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793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sectorial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(transversal — NO jerárquica)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0175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1821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· Educación · Salud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3832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5478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· Empresa · Sector Público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comercial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(cliente específico)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0175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1821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para un cliente concreto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TAXONOMÍA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DeskNow.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funcional jerárquica + 2 dimensiones transversales.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/ Dominio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funcional de la organización.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2340864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D9EAE7"/>
          </a:solidFill>
          <a:ln w="6350">
            <a:solidFill>
              <a:srgbClr val="D9EA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3408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funcional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funcional comercializable.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2706624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D9EAE7"/>
          </a:solidFill>
          <a:ln w="6350">
            <a:solidFill>
              <a:srgbClr val="D9EA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7066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funcional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funcional dentro de un producto.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3072384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D9EAE7"/>
          </a:solidFill>
          <a:ln w="6350">
            <a:solidFill>
              <a:srgbClr val="D9EA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3072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funcional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Submódulo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más específica.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3438144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D9EAE7"/>
          </a:solidFill>
          <a:ln w="6350">
            <a:solidFill>
              <a:srgbClr val="D9E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34381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funcional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/ configuración sectorial.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3803904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FAF8F2"/>
          </a:solidFill>
          <a:ln w="6350">
            <a:solidFill>
              <a:srgbClr val="E9E3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803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transversal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comercial para un cliente.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23760" y="4169664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FAF8F2"/>
          </a:solidFill>
          <a:ln w="6350">
            <a:solidFill>
              <a:srgbClr val="E9E3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comercial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DESKBRAIN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7C7A7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DeskBrain — Knowledge, Context &amp; Memory.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sabemos? ¿Cuál es el contexto?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2606040"/>
            <a:ext cx="914400" cy="914400"/>
          </a:xfrm>
          <a:prstGeom prst="ellipse">
            <a:avLst/>
          </a:prstGeom>
          <a:solidFill>
            <a:srgbClr val="0D4F4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contextual de la organización.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Decisiones, precedentes, contexto operativo.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DESKTHING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D9EAE7"/>
          </a:solidFill>
          <a:ln w="9525">
            <a:solidFill>
              <a:srgbClr val="D9EA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DeskThing — Data, Processing &amp; Intelligence.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podemos descubrir, medir, modelar o predecir?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AF8F2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 y trazable.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AF8F2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durables.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AF8F2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explicables.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confiables convertidos en inteligencia utilizable.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DESKSIA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7C7A7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/ Future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DesksIA — Intelligent &amp; Governed Execution.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podemos ejecutar y bajo qué reglas?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2011680"/>
          </a:xfrm>
          <a:prstGeom prst="roundRect">
            <a:avLst>
              <a:gd name="adj" fmla="val 4545"/>
            </a:avLst>
          </a:prstGeom>
          <a:solidFill>
            <a:srgbClr val="0A3D39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2697480"/>
            <a:ext cx="731520" cy="731520"/>
          </a:xfrm>
          <a:prstGeom prst="ellipse">
            <a:avLst/>
          </a:prstGeom>
          <a:solidFill>
            <a:srgbClr val="0D4F4A"/>
          </a:solidFill>
          <a:ln w="19050">
            <a:solidFill>
              <a:srgbClr val="6E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inteligente gobernada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dentro del ecosistema, no fuera de él.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CÓMO TRABAJAN JUNTOS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completo en acción.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0" y="182880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0D4F4A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 · Work Experience (superficie)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0" cy="164592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4688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D9EAE7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DESKFLOW · Workflow / Coordination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926080"/>
            <a:ext cx="0" cy="13716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926080"/>
            <a:ext cx="0" cy="13716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3063240"/>
            <a:ext cx="3657600" cy="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063240"/>
            <a:ext cx="0" cy="13716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063240"/>
            <a:ext cx="0" cy="13716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20040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DESKNOW · funciones de negocio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20040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INTEGRATION · sistemas externos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657600"/>
            <a:ext cx="0" cy="164592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40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CAPABILITIES (intercambian contexto, datos, inteligencia y ejecución)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41148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D9EAE7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DeskBrain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41148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D9EAE7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D9EAE7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trabaja en DeskWork. DeskFlow coordina y ejecuta. El resto del ecosistema lo alimenta.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ESTRATEGIA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D4F4A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Integration,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Imitation.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antes que reemplazar.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292608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292608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34640" y="3749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3749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0D4F4A"/>
          </a:solidFill>
          <a:ln w="9525">
            <a:solidFill>
              <a:srgbClr val="6EE7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evitar dependencia estructural y preservar interoperabilidad y portabilidad.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JOURNEY 1 — NUEVA CONTRATACIÓN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 una contratación con DeskHUB.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731520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responsable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210312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la solicitud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7315200" cy="338328"/>
          </a:xfrm>
          <a:prstGeom prst="roundRect">
            <a:avLst>
              <a:gd name="adj" fmla="val 13514"/>
            </a:avLst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8716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487168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/ workspace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254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871216"/>
            <a:ext cx="7315200" cy="338328"/>
          </a:xfrm>
          <a:prstGeom prst="roundRect">
            <a:avLst>
              <a:gd name="adj" fmla="val 13514"/>
            </a:avLst>
          </a:prstGeom>
          <a:solidFill>
            <a:srgbClr val="D9EAE7"/>
          </a:solidFill>
          <a:ln w="12700">
            <a:solidFill>
              <a:srgbClr val="D9EA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7121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871216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coordinación y ejecución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95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255264"/>
            <a:ext cx="7315200" cy="338328"/>
          </a:xfrm>
          <a:prstGeom prst="roundRect">
            <a:avLst>
              <a:gd name="adj" fmla="val 135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25526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downstream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255264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DeskHR · DeskTI · BUK · MS · Google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593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639312"/>
            <a:ext cx="7315200" cy="338328"/>
          </a:xfrm>
          <a:prstGeom prst="roundRect">
            <a:avLst>
              <a:gd name="adj" fmla="val 135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63931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+ DesksIA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63931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autorizadas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023360"/>
            <a:ext cx="7315200" cy="338328"/>
          </a:xfrm>
          <a:prstGeom prst="roundRect">
            <a:avLst>
              <a:gd name="adj" fmla="val 13514"/>
            </a:avLst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02336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+ 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402336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inmutable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solicitud. Múltiples sistemas coordinados. Un único contexto de trabajo.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JOURNEY 2 — NEGOCIO GANADO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→ proyecto → SAP → equipos → cierre.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quedan. La coordinación es nueva.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ganada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30175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74520" y="237744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creado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30175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37744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coord.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0175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237744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cliente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0175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0" y="237744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9788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30175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78040" y="237744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FAF8F2"/>
          </a:solidFill>
          <a:ln w="12700">
            <a:solidFill>
              <a:srgbClr val="E9E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KPI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oportunidad se convierte en operación sin migraciones traumáticas.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VERTICALES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se adapta a tu organización, no al revés.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Composiciones sectoriales, NO productos independientes.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450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/ OSC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Voluntarios, regionales, presupuesto limitado.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2860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2450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Administrativo, académico, técnico.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2860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688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2450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179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turnos, auditoría.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5661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3152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5-50 personas, varios proveedores.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91840" y="35661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7490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3192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347472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Multi-equipo, multi-sede.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035040" y="35661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E3D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4904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7512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Público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621792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Transparencia, trazabilidad, escala.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arquitectura. Múltiples composiciones sectoriales.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SERVICES + DESKSOLUTION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9E3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75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Planned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para implementar, evolucionar y construir.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profesional + capacidad de desarrollo a medida.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91440" cy="91440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&amp; Assessment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91440" cy="91440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06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91440" cy="91440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91440" cy="91440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91440" cy="91440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94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33088"/>
            <a:ext cx="91440" cy="91440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23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487168"/>
            <a:ext cx="91440" cy="9144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medida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816352"/>
            <a:ext cx="91440" cy="9144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706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custom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145536"/>
            <a:ext cx="91440" cy="9144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específicas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474720"/>
            <a:ext cx="91440" cy="9144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3803904"/>
            <a:ext cx="91440" cy="9144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694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especializadas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4133088"/>
            <a:ext cx="91440" cy="91440"/>
          </a:xfrm>
          <a:prstGeom prst="rect">
            <a:avLst/>
          </a:prstGeom>
          <a:solidFill>
            <a:srgbClr val="0A3D39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4023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custom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DESKSOLUTION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DeskSolution construye lo que el cliente necesita hoy.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acompaña la implementación, integración y operación.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MODELO DE OFERTA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puede incorporar DeskHUB.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modular. Se incorpora por componente.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DeskWork como espacio de trabajo.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Solutions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651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DeskNow como arquitectura funcional + soluciones nativas.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DeskSolution como línea comercial de desarrollo a medida.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DeskBrain / DeskThing / DesksIA como capacidades transversales.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749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Integraciones, partners, conectores.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8046720" cy="4572"/>
          </a:xfrm>
          <a:prstGeom prst="rect">
            <a:avLst/>
          </a:prstGeom>
          <a:solidFill>
            <a:srgbClr val="E9E3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Advisory, Implementation, Integration, Data &amp; AI, Automation, Managed.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EVOLUCIÓN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evoluciona DeskHUB.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4217" cy="2377440"/>
          </a:xfrm>
          <a:prstGeom prst="roundRect">
            <a:avLst>
              <a:gd name="adj" fmla="val 5060"/>
            </a:avLst>
          </a:prstGeom>
          <a:solidFill>
            <a:srgbClr val="0D4F4A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1084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E7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9013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9013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· Identity · Workflow · Integration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70017" y="1828800"/>
            <a:ext cx="1084217" cy="2377440"/>
          </a:xfrm>
          <a:prstGeom prst="roundRect">
            <a:avLst>
              <a:gd name="adj" fmla="val 5060"/>
            </a:avLst>
          </a:prstGeom>
          <a:solidFill>
            <a:srgbClr val="0D4F4A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70017" y="1965960"/>
            <a:ext cx="1084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E7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61457" y="2377440"/>
            <a:ext cx="9013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Solutions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61457" y="3017520"/>
            <a:ext cx="9013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DeskNow madurando por dominio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99954" y="1828800"/>
            <a:ext cx="1084217" cy="2377440"/>
          </a:xfrm>
          <a:prstGeom prst="roundRect">
            <a:avLst>
              <a:gd name="adj" fmla="val 5060"/>
            </a:avLst>
          </a:prstGeom>
          <a:solidFill>
            <a:srgbClr val="0D4F4A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9954" y="1965960"/>
            <a:ext cx="1084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E7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1394" y="2377440"/>
            <a:ext cx="9013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91394" y="3017520"/>
            <a:ext cx="9013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DeskSolution facturando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9891" y="1828800"/>
            <a:ext cx="1084217" cy="2377440"/>
          </a:xfrm>
          <a:prstGeom prst="roundRect">
            <a:avLst>
              <a:gd name="adj" fmla="val 5060"/>
            </a:avLst>
          </a:prstGeom>
          <a:solidFill>
            <a:srgbClr val="FAF8F2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9891" y="1965960"/>
            <a:ext cx="1084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21331" y="2377440"/>
            <a:ext cx="9013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21331" y="3017520"/>
            <a:ext cx="9013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DeskBrain activo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59829" y="1828800"/>
            <a:ext cx="1084217" cy="2377440"/>
          </a:xfrm>
          <a:prstGeom prst="roundRect">
            <a:avLst>
              <a:gd name="adj" fmla="val 5060"/>
            </a:avLst>
          </a:prstGeom>
          <a:solidFill>
            <a:srgbClr val="FAF8F2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9829" y="1965960"/>
            <a:ext cx="1084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1269" y="2377440"/>
            <a:ext cx="9013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1269" y="3017520"/>
            <a:ext cx="9013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DeskThing activo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89766" y="1828800"/>
            <a:ext cx="1084217" cy="2377440"/>
          </a:xfrm>
          <a:prstGeom prst="roundRect">
            <a:avLst>
              <a:gd name="adj" fmla="val 5060"/>
            </a:avLst>
          </a:prstGeom>
          <a:solidFill>
            <a:srgbClr val="FAF8F2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9766" y="1965960"/>
            <a:ext cx="1084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1206" y="2377440"/>
            <a:ext cx="9013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1206" y="3017520"/>
            <a:ext cx="9013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DesksIA bajo políticas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19703" y="1828800"/>
            <a:ext cx="1084217" cy="2377440"/>
          </a:xfrm>
          <a:prstGeom prst="roundRect">
            <a:avLst>
              <a:gd name="adj" fmla="val 5060"/>
            </a:avLst>
          </a:prstGeom>
          <a:solidFill>
            <a:srgbClr val="FAF8F2"/>
          </a:solidFill>
          <a:ln w="9525">
            <a:solidFill>
              <a:srgbClr val="0D4F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9703" y="1965960"/>
            <a:ext cx="1084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11143" y="2377440"/>
            <a:ext cx="9013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11143" y="3017520"/>
            <a:ext cx="9013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DesksIA con bounded autonomy ampliada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137160" cy="137160"/>
          </a:xfrm>
          <a:prstGeom prst="rect">
            <a:avLst/>
          </a:prstGeom>
          <a:solidFill>
            <a:srgbClr val="0D4F4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0" y="4572000"/>
            <a:ext cx="137160" cy="137160"/>
          </a:xfrm>
          <a:prstGeom prst="rect">
            <a:avLst/>
          </a:prstGeom>
          <a:solidFill>
            <a:srgbClr val="FAF8F2"/>
          </a:solidFill>
          <a:ln w="6350">
            <a:solidFill>
              <a:srgbClr val="0D4F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VISIÓN ESTRATÉGICA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365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" cy="0"/>
          </a:xfrm>
          <a:prstGeom prst="line">
            <a:avLst/>
          </a:prstGeom>
          <a:noFill/>
          <a:ln w="38100">
            <a:solidFill>
              <a:srgbClr val="0D4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ecosistema que permita a organizaciones empresariales e institucionales integrar, operar, comprender y evolucionar su trabajo 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tener que reconstruir desde cero su arquitectura tecnológica.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12700">
            <a:solidFill>
              <a:srgbClr val="E9E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inicial · territorio estratégico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· LATAM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 · Master Presentation v1.2.1 · sept 2026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4F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314700"/>
            <a:ext cx="4572000" cy="4572000"/>
          </a:xfrm>
          <a:prstGeom prst="ellipse">
            <a:avLst/>
          </a:prstGeom>
          <a:solidFill>
            <a:srgbClr val="6EE7D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023360" y="128016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0D4F4A"/>
          </a:solidFill>
          <a:ln w="19050">
            <a:solidFill>
              <a:srgbClr val="6E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417320"/>
            <a:ext cx="0" cy="822960"/>
          </a:xfrm>
          <a:prstGeom prst="line">
            <a:avLst/>
          </a:prstGeom>
          <a:noFill/>
          <a:ln w="25400">
            <a:solidFill>
              <a:srgbClr val="6EE7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2816" y="1700784"/>
            <a:ext cx="164592" cy="164592"/>
          </a:xfrm>
          <a:prstGeom prst="ellipse">
            <a:avLst/>
          </a:prstGeom>
          <a:solidFill>
            <a:srgbClr val="D9EAE7"/>
          </a:solidFill>
          <a:ln/>
        </p:spPr>
      </p:sp>
      <p:sp>
        <p:nvSpPr>
          <p:cNvPr id="7" name="Shape 5"/>
          <p:cNvSpPr/>
          <p:nvPr/>
        </p:nvSpPr>
        <p:spPr>
          <a:xfrm>
            <a:off x="4736592" y="1700784"/>
            <a:ext cx="164592" cy="164592"/>
          </a:xfrm>
          <a:prstGeom prst="ellipse">
            <a:avLst/>
          </a:prstGeom>
          <a:solidFill>
            <a:srgbClr val="D9EAE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DeskHUB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evitar dependencia estructural y preservar interoperabilidad y portabilidad.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4023360"/>
            <a:ext cx="548640" cy="0"/>
          </a:xfrm>
          <a:prstGeom prst="line">
            <a:avLst/>
          </a:prstGeom>
          <a:noFill/>
          <a:ln w="25400">
            <a:solidFill>
              <a:srgbClr val="6EE7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6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Conversemos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hola@deskhub.example.com · deskhub.example.com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LAB · Master Presentation v1.2.1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Fabric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DeskHUB — Ecosistema de Trabajo Empresarial e Institucional</dc:title>
  <dc:subject>Master Presentation v1.2.1</dc:subject>
  <dc:creator>DeskHUB / Fabric Lab</dc:creator>
  <cp:lastModifiedBy>DeskHUB / Fabric Lab</cp:lastModifiedBy>
  <cp:revision>1</cp:revision>
  <dcterms:created xsi:type="dcterms:W3CDTF">2026-09-16T14:34:28Z</dcterms:created>
  <dcterms:modified xsi:type="dcterms:W3CDTF">2026-09-16T14:34:28Z</dcterms:modified>
</cp:coreProperties>
</file>