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D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3D39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D4F4A">
              <a:alpha val="4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0" y="3314700"/>
            <a:ext cx="4572000" cy="4572000"/>
          </a:xfrm>
          <a:prstGeom prst="ellipse">
            <a:avLst/>
          </a:prstGeom>
          <a:solidFill>
            <a:srgbClr val="6EE7D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371600"/>
            <a:ext cx="777240" cy="777240"/>
          </a:xfrm>
          <a:prstGeom prst="roundRect">
            <a:avLst>
              <a:gd name="adj" fmla="val 16471"/>
            </a:avLst>
          </a:prstGeom>
          <a:solidFill>
            <a:srgbClr val="0D4F4A"/>
          </a:solidFill>
          <a:ln w="12700">
            <a:solidFill>
              <a:srgbClr val="6EE7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8700" y="1481328"/>
            <a:ext cx="0" cy="566928"/>
          </a:xfrm>
          <a:prstGeom prst="line">
            <a:avLst/>
          </a:prstGeom>
          <a:noFill/>
          <a:ln w="19050">
            <a:solidFill>
              <a:srgbClr val="6EE7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9536" y="1682496"/>
            <a:ext cx="118872" cy="118872"/>
          </a:xfrm>
          <a:prstGeom prst="ellipse">
            <a:avLst/>
          </a:prstGeom>
          <a:solidFill>
            <a:srgbClr val="D9EAE7"/>
          </a:solidFill>
          <a:ln/>
        </p:spPr>
      </p:sp>
      <p:sp>
        <p:nvSpPr>
          <p:cNvPr id="8" name="Shape 6"/>
          <p:cNvSpPr/>
          <p:nvPr/>
        </p:nvSpPr>
        <p:spPr>
          <a:xfrm>
            <a:off x="1078992" y="1682496"/>
            <a:ext cx="118872" cy="118872"/>
          </a:xfrm>
          <a:prstGeom prst="ellipse">
            <a:avLst/>
          </a:prstGeom>
          <a:solidFill>
            <a:srgbClr val="D9EAE7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3258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Ecosistema de Trabajo Empresarial e Institucional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" y="3017520"/>
            <a:ext cx="548640" cy="0"/>
          </a:xfrm>
          <a:prstGeom prst="line">
            <a:avLst/>
          </a:prstGeom>
          <a:noFill/>
          <a:ln w="25400">
            <a:solidFill>
              <a:srgbClr val="6EE7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2004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organización. Tus sistemas. Un solo ecosistema de trabajo.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 para evitar dependencia estructural y preservar interoperabilidad y portabilidad.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7320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LAB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60720" y="47320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9EAE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Septiembre 2026 · v1.2.1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CONTEXTO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109728" cy="109728"/>
          </a:xfrm>
          <a:prstGeom prst="rect">
            <a:avLst/>
          </a:prstGeom>
          <a:solidFill>
            <a:srgbClr val="0D4F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430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Lab presenta DeskHUB.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Construimos tecnología para que las organizaciones trabajen mejor.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889504"/>
            <a:ext cx="146304" cy="146304"/>
          </a:xfrm>
          <a:prstGeom prst="ellipse">
            <a:avLst/>
          </a:prstGeom>
          <a:solidFill>
            <a:srgbClr val="0D4F4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8346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claims absolutos.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09067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datos verificados. Sin cifras inventadas.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38144"/>
            <a:ext cx="146304" cy="146304"/>
          </a:xfrm>
          <a:prstGeom prst="ellipse">
            <a:avLst/>
          </a:prstGeom>
          <a:solidFill>
            <a:srgbClr val="0D4F4A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3832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honesta.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363931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complejidad está debajo; la experiencia arriba.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86784"/>
            <a:ext cx="146304" cy="146304"/>
          </a:xfrm>
          <a:prstGeom prst="ellipse">
            <a:avLst/>
          </a:prstGeom>
          <a:solidFill>
            <a:srgbClr val="0D4F4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931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Postura enterprise.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18795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preciso, sistema visual sobrio, status claros.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EL PROBLEMA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fragmentación tecnológica no es un detalle. Es el problema central.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FAF8F2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606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sistema.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331720" y="288036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06040" y="246888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FAF8F2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8920" y="2606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Aprobaciones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788920" y="3017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otro.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89120" y="288036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663440" y="246888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FAF8F2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606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846320" y="3017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 tercero.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288036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720840" y="2468880"/>
            <a:ext cx="1920240" cy="1280160"/>
          </a:xfrm>
          <a:prstGeom prst="roundRect">
            <a:avLst>
              <a:gd name="adj" fmla="val 5714"/>
            </a:avLst>
          </a:prstGeom>
          <a:solidFill>
            <a:srgbClr val="FAF8F2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3720" y="2606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Conversación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903720" y="3017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chat.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0233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trabajo se reconstruye a mano todos los días. La organización opera en modo patchwork.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EL COSTO (cualitativo)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fragmentación cuesta.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Representación cualitativa. Sin cifras inventadas.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50592"/>
            <a:ext cx="164592" cy="164592"/>
          </a:xfrm>
          <a:prstGeom prst="rect">
            <a:avLst/>
          </a:prstGeom>
          <a:solidFill>
            <a:srgbClr val="B3331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00400" y="22860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Reconstruir contexto cada vez que cambia un sistema.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53512"/>
            <a:ext cx="164592" cy="164592"/>
          </a:xfrm>
          <a:prstGeom prst="rect">
            <a:avLst/>
          </a:prstGeom>
          <a:solidFill>
            <a:srgbClr val="B3331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Duplicación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200400" y="27889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dato vive en 3 lugares. ¿Cuál es la verdad?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56432"/>
            <a:ext cx="164592" cy="164592"/>
          </a:xfrm>
          <a:prstGeom prst="rect">
            <a:avLst/>
          </a:prstGeom>
          <a:solidFill>
            <a:srgbClr val="B3331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200400" y="32918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Pasos manuales entre sistemas = pasos que se olvidan.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59352"/>
            <a:ext cx="164592" cy="164592"/>
          </a:xfrm>
          <a:prstGeom prst="rect">
            <a:avLst/>
          </a:prstGeom>
          <a:solidFill>
            <a:srgbClr val="B3331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794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00400" y="37947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lentas por falta de cuadro único.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462272"/>
            <a:ext cx="164592" cy="164592"/>
          </a:xfrm>
          <a:prstGeom prst="rect">
            <a:avLst/>
          </a:prstGeom>
          <a:solidFill>
            <a:srgbClr val="B3331F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297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200400" y="42976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una persona se va, el conocimiento se va con ella.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EL CAMBIO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software aislado al ecosistema de trabajo.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3840480" cy="2286000"/>
          </a:xfrm>
          <a:prstGeom prst="roundRect">
            <a:avLst>
              <a:gd name="adj" fmla="val 4000"/>
            </a:avLst>
          </a:prstGeom>
          <a:solidFill>
            <a:srgbClr val="FAF8F2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377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aislado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77240" y="3355848"/>
            <a:ext cx="73152" cy="73152"/>
          </a:xfrm>
          <a:prstGeom prst="ellipse">
            <a:avLst/>
          </a:prstGeom>
          <a:solidFill>
            <a:srgbClr val="7C7A72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291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pantalla por sistema.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3630168"/>
            <a:ext cx="73152" cy="73152"/>
          </a:xfrm>
          <a:prstGeom prst="ellipse">
            <a:avLst/>
          </a:prstGeom>
          <a:solidFill>
            <a:srgbClr val="7C7A72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duplicados.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3904488"/>
            <a:ext cx="73152" cy="73152"/>
          </a:xfrm>
          <a:prstGeom prst="ellipse">
            <a:avLst/>
          </a:prstGeom>
          <a:solidFill>
            <a:srgbClr val="7C7A72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840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en chat.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4178808"/>
            <a:ext cx="73152" cy="73152"/>
          </a:xfrm>
          <a:prstGeom prst="ellipse">
            <a:avLst/>
          </a:prstGeom>
          <a:solidFill>
            <a:srgbClr val="7C7A72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114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en cabezas.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34840" y="31089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2194560"/>
            <a:ext cx="3840480" cy="2286000"/>
          </a:xfrm>
          <a:prstGeom prst="roundRect">
            <a:avLst>
              <a:gd name="adj" fmla="val 4000"/>
            </a:avLst>
          </a:prstGeom>
          <a:solidFill>
            <a:srgbClr val="0D4F4A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E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26517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Ecosistema de trabajo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983480" y="3355848"/>
            <a:ext cx="73152" cy="73152"/>
          </a:xfrm>
          <a:prstGeom prst="ellipse">
            <a:avLst/>
          </a:prstGeom>
          <a:solidFill>
            <a:srgbClr val="6EE7DF"/>
          </a:solidFill>
          <a:ln/>
        </p:spPr>
      </p:sp>
      <p:sp>
        <p:nvSpPr>
          <p:cNvPr id="21" name="Text 19"/>
          <p:cNvSpPr/>
          <p:nvPr/>
        </p:nvSpPr>
        <p:spPr>
          <a:xfrm>
            <a:off x="5166360" y="3291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superficie coherente.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983480" y="3630168"/>
            <a:ext cx="73152" cy="73152"/>
          </a:xfrm>
          <a:prstGeom prst="ellipse">
            <a:avLst/>
          </a:prstGeom>
          <a:solidFill>
            <a:srgbClr val="6EE7DF"/>
          </a:solidFill>
          <a:ln/>
        </p:spPr>
      </p:sp>
      <p:sp>
        <p:nvSpPr>
          <p:cNvPr id="23" name="Text 21"/>
          <p:cNvSpPr/>
          <p:nvPr/>
        </p:nvSpPr>
        <p:spPr>
          <a:xfrm>
            <a:off x="5166360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preservado.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983480" y="3904488"/>
            <a:ext cx="73152" cy="73152"/>
          </a:xfrm>
          <a:prstGeom prst="ellipse">
            <a:avLst/>
          </a:prstGeom>
          <a:solidFill>
            <a:srgbClr val="6EE7DF"/>
          </a:solidFill>
          <a:ln/>
        </p:spPr>
      </p:sp>
      <p:sp>
        <p:nvSpPr>
          <p:cNvPr id="25" name="Text 23"/>
          <p:cNvSpPr/>
          <p:nvPr/>
        </p:nvSpPr>
        <p:spPr>
          <a:xfrm>
            <a:off x="5166360" y="3840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auditables.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83480" y="4178808"/>
            <a:ext cx="73152" cy="73152"/>
          </a:xfrm>
          <a:prstGeom prst="ellipse">
            <a:avLst/>
          </a:prstGeom>
          <a:solidFill>
            <a:srgbClr val="6EE7DF"/>
          </a:solidFill>
          <a:ln/>
        </p:spPr>
      </p:sp>
      <p:sp>
        <p:nvSpPr>
          <p:cNvPr id="27" name="Text 25"/>
          <p:cNvSpPr/>
          <p:nvPr/>
        </p:nvSpPr>
        <p:spPr>
          <a:xfrm>
            <a:off x="5166360" y="4114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como activo.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¿QUÉ ES DESKHUB?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es el ecosistema de Fabric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conectar, integrar y organizar la forma en que tu organización trabaja.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 para evitar dependencia estructural y preservar interoperabilidad.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60320" y="2514600"/>
            <a:ext cx="4023360" cy="2377440"/>
          </a:xfrm>
          <a:prstGeom prst="ellipse">
            <a:avLst/>
          </a:prstGeom>
          <a:solidFill>
            <a:srgbClr val="FAF8F2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0" y="2651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LAB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17520" y="2788920"/>
            <a:ext cx="3108960" cy="1828800"/>
          </a:xfrm>
          <a:prstGeom prst="ellipse">
            <a:avLst/>
          </a:prstGeom>
          <a:solidFill>
            <a:srgbClr val="D9EAE7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023360" y="2544318"/>
            <a:ext cx="10972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6350">
            <a:solidFill>
              <a:srgbClr val="0D4F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254431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DeskWork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092416" y="3068955"/>
            <a:ext cx="10972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6350">
            <a:solidFill>
              <a:srgbClr val="0D4F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92416" y="3068955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DeskNow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92416" y="4118229"/>
            <a:ext cx="10972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6350">
            <a:solidFill>
              <a:srgbClr val="0D4F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92416" y="4118229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DeskSolution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023360" y="4642866"/>
            <a:ext cx="10972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6350">
            <a:solidFill>
              <a:srgbClr val="0D4F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464286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DeskBrain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954304" y="4118229"/>
            <a:ext cx="10972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6350">
            <a:solidFill>
              <a:srgbClr val="0D4F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54304" y="4118229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DeskThing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954304" y="3068955"/>
            <a:ext cx="109728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6350">
            <a:solidFill>
              <a:srgbClr val="0D4F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54304" y="3068955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DesksIA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977640" y="3337560"/>
            <a:ext cx="1188720" cy="731520"/>
          </a:xfrm>
          <a:prstGeom prst="ellipse">
            <a:avLst/>
          </a:prstGeom>
          <a:solidFill>
            <a:srgbClr val="0D4F4A"/>
          </a:solidFill>
          <a:ln/>
        </p:spPr>
      </p:sp>
      <p:sp>
        <p:nvSpPr>
          <p:cNvPr id="24" name="Text 22"/>
          <p:cNvSpPr/>
          <p:nvPr/>
        </p:nvSpPr>
        <p:spPr>
          <a:xfrm>
            <a:off x="3977640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DeskWork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77640" y="363016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Experience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8640" y="3657600"/>
            <a:ext cx="457200" cy="0"/>
          </a:xfrm>
          <a:prstGeom prst="line">
            <a:avLst/>
          </a:prstGeom>
          <a:noFill/>
          <a:ln w="25400">
            <a:solidFill>
              <a:srgbClr val="0D4F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794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complejidad se integra detrás de DeskWork.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4160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trabaja desde DeskWork.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ARQUITECTURA DEL ECOSISTEMA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/ 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6858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está construido DeskHUB.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0" y="141732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7C7A72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1417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LAB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0" y="1783080"/>
            <a:ext cx="0" cy="164592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91840" y="1965960"/>
            <a:ext cx="2560320" cy="411480"/>
          </a:xfrm>
          <a:prstGeom prst="roundRect">
            <a:avLst>
              <a:gd name="adj" fmla="val 11111"/>
            </a:avLst>
          </a:prstGeom>
          <a:solidFill>
            <a:srgbClr val="0A3D39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9659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874520" y="2377440"/>
            <a:ext cx="0" cy="164592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560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AF8F2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651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DESKWORK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29260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/ Workspace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32004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DeskCore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336499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Desk Integration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352958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DeskFlow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377440"/>
            <a:ext cx="0" cy="164592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256032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AF8F2"/>
          </a:solidFill>
          <a:ln w="12700">
            <a:solidFill>
              <a:srgbClr val="0A3D3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2651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DESKNOW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74720" y="29260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Solutions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474720" y="32004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Departments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74720" y="336499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Products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74720" y="352958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Modules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74720" y="369417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Submodules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74720" y="385876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Verticals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74720" y="402336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Solutions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60920" y="2377440"/>
            <a:ext cx="0" cy="164592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256032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AF8F2"/>
          </a:solidFill>
          <a:ln w="12700">
            <a:solidFill>
              <a:srgbClr val="3A425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3640" y="2651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DESKSOLUTION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263640" y="29260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Solutions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32004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Línea comercial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63640" y="33649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que usa capacidades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63640" y="352958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del ecosistema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0" y="4023360"/>
            <a:ext cx="0" cy="164592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20624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TRANSVERSAL CAPABILITIES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828800" y="452628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D9EAE7"/>
          </a:solidFill>
          <a:ln/>
        </p:spPr>
      </p:sp>
      <p:sp>
        <p:nvSpPr>
          <p:cNvPr id="37" name="Text 35"/>
          <p:cNvSpPr/>
          <p:nvPr/>
        </p:nvSpPr>
        <p:spPr>
          <a:xfrm>
            <a:off x="1828800" y="4526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DeskBrain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023360" y="452628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D9EAE7"/>
          </a:solidFill>
          <a:ln/>
        </p:spPr>
      </p:sp>
      <p:sp>
        <p:nvSpPr>
          <p:cNvPr id="39" name="Text 37"/>
          <p:cNvSpPr/>
          <p:nvPr/>
        </p:nvSpPr>
        <p:spPr>
          <a:xfrm>
            <a:off x="4023360" y="4526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DeskThing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17920" y="452628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D9EAE7"/>
          </a:solidFill>
          <a:ln/>
        </p:spPr>
      </p:sp>
      <p:sp>
        <p:nvSpPr>
          <p:cNvPr id="41" name="Text 39"/>
          <p:cNvSpPr/>
          <p:nvPr/>
        </p:nvSpPr>
        <p:spPr>
          <a:xfrm>
            <a:off x="6217920" y="4526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DesksIA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DESKWORK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040880" y="45720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0D4F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475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— MVP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DeskWork. La superficie del ecosistema.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el usuario trabaja. La plataforma que navega.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0" y="228600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D4F4A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0" y="2359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DESKWORK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00400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/ Workspace (surface)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874520" y="3063240"/>
            <a:ext cx="0" cy="182880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291840"/>
            <a:ext cx="24688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3649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DESKCORE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3703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(sustains)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0" y="3063240"/>
            <a:ext cx="0" cy="182880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37560" y="3291840"/>
            <a:ext cx="24688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33649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INTEGRATION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37560" y="3703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(connects)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69480" y="3063240"/>
            <a:ext cx="0" cy="182880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3291840"/>
            <a:ext cx="24688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0" y="336499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DESKFLOW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35040" y="3703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(coordinates &amp; executes)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Principio mnemónico: "DeskCore sostiene. Desk Integration conecta. DeskFlow coordina y ejecuta. DeskWork presenta."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DESKWORK — ESTACIÓN DE TRABAJO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040880" y="45720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0D4F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475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— MVP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estación para cada persona.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entra. Su identidad determina lo que ve.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286000"/>
            <a:ext cx="6400800" cy="2286000"/>
          </a:xfrm>
          <a:prstGeom prst="roundRect">
            <a:avLst>
              <a:gd name="adj" fmla="val 2400"/>
            </a:avLst>
          </a:prstGeom>
          <a:solidFill>
            <a:srgbClr val="FAF8F2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371600" y="2286000"/>
            <a:ext cx="6400800" cy="320040"/>
          </a:xfrm>
          <a:prstGeom prst="roundRect">
            <a:avLst>
              <a:gd name="adj" fmla="val 17143"/>
            </a:avLst>
          </a:prstGeom>
          <a:solidFill>
            <a:srgbClr val="FAF8F2"/>
          </a:solidFill>
          <a:ln/>
        </p:spPr>
      </p:sp>
      <p:sp>
        <p:nvSpPr>
          <p:cNvPr id="10" name="Shape 8"/>
          <p:cNvSpPr/>
          <p:nvPr/>
        </p:nvSpPr>
        <p:spPr>
          <a:xfrm>
            <a:off x="1508760" y="2377440"/>
            <a:ext cx="137160" cy="137160"/>
          </a:xfrm>
          <a:prstGeom prst="ellipse">
            <a:avLst/>
          </a:prstGeom>
          <a:solidFill>
            <a:srgbClr val="E9E3D6"/>
          </a:solidFill>
          <a:ln/>
        </p:spPr>
      </p:sp>
      <p:sp>
        <p:nvSpPr>
          <p:cNvPr id="11" name="Shape 9"/>
          <p:cNvSpPr/>
          <p:nvPr/>
        </p:nvSpPr>
        <p:spPr>
          <a:xfrm>
            <a:off x="1691640" y="2377440"/>
            <a:ext cx="137160" cy="137160"/>
          </a:xfrm>
          <a:prstGeom prst="ellipse">
            <a:avLst/>
          </a:prstGeom>
          <a:solidFill>
            <a:srgbClr val="E9E3D6"/>
          </a:solidFill>
          <a:ln/>
        </p:spPr>
      </p:sp>
      <p:sp>
        <p:nvSpPr>
          <p:cNvPr id="12" name="Shape 10"/>
          <p:cNvSpPr/>
          <p:nvPr/>
        </p:nvSpPr>
        <p:spPr>
          <a:xfrm>
            <a:off x="1874520" y="2377440"/>
            <a:ext cx="137160" cy="137160"/>
          </a:xfrm>
          <a:prstGeom prst="ellipse">
            <a:avLst/>
          </a:prstGeom>
          <a:solidFill>
            <a:srgbClr val="E9E3D6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0" y="23317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deskwork.app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71600" y="2606040"/>
            <a:ext cx="1463040" cy="1965960"/>
          </a:xfrm>
          <a:prstGeom prst="rect">
            <a:avLst/>
          </a:prstGeom>
          <a:solidFill>
            <a:srgbClr val="0A3D39"/>
          </a:solidFill>
          <a:ln/>
        </p:spPr>
      </p:sp>
      <p:sp>
        <p:nvSpPr>
          <p:cNvPr id="15" name="Text 13"/>
          <p:cNvSpPr/>
          <p:nvPr/>
        </p:nvSpPr>
        <p:spPr>
          <a:xfrm>
            <a:off x="1554480" y="2788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554480" y="3154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54480" y="3520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54480" y="38862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54480" y="4251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108960" y="2788920"/>
            <a:ext cx="13716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0" y="28346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— Crítico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200400" y="30632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33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4663440" y="2788920"/>
            <a:ext cx="13716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8346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Alto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30632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200" dirty="0"/>
          </a:p>
        </p:txBody>
      </p:sp>
      <p:sp>
        <p:nvSpPr>
          <p:cNvPr id="26" name="Shape 24"/>
          <p:cNvSpPr/>
          <p:nvPr/>
        </p:nvSpPr>
        <p:spPr>
          <a:xfrm>
            <a:off x="6217920" y="2788920"/>
            <a:ext cx="13716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28346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Normal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09360" y="30632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1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200" dirty="0"/>
          </a:p>
        </p:txBody>
      </p:sp>
      <p:sp>
        <p:nvSpPr>
          <p:cNvPr id="29" name="Shape 27"/>
          <p:cNvSpPr/>
          <p:nvPr/>
        </p:nvSpPr>
        <p:spPr>
          <a:xfrm>
            <a:off x="3108960" y="3749040"/>
            <a:ext cx="44805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3840480"/>
            <a:ext cx="54864" cy="548640"/>
          </a:xfrm>
          <a:prstGeom prst="rect">
            <a:avLst/>
          </a:prstGeom>
          <a:solidFill>
            <a:srgbClr val="C2410C"/>
          </a:solidFill>
          <a:ln/>
        </p:spPr>
      </p:sp>
      <p:sp>
        <p:nvSpPr>
          <p:cNvPr id="31" name="Text 29"/>
          <p:cNvSpPr/>
          <p:nvPr/>
        </p:nvSpPr>
        <p:spPr>
          <a:xfrm>
            <a:off x="3337560" y="3840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#4821 Impresora sin conexión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63440" y="3840480"/>
            <a:ext cx="54864" cy="548640"/>
          </a:xfrm>
          <a:prstGeom prst="rect">
            <a:avLst/>
          </a:prstGeom>
          <a:solidFill>
            <a:srgbClr val="B3331F"/>
          </a:solidFill>
          <a:ln/>
        </p:spPr>
      </p:sp>
      <p:sp>
        <p:nvSpPr>
          <p:cNvPr id="33" name="Text 31"/>
          <p:cNvSpPr/>
          <p:nvPr/>
        </p:nvSpPr>
        <p:spPr>
          <a:xfrm>
            <a:off x="4800600" y="3840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#4820 No entra al correo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126480" y="3840480"/>
            <a:ext cx="54864" cy="548640"/>
          </a:xfrm>
          <a:prstGeom prst="rect">
            <a:avLst/>
          </a:prstGeom>
          <a:solidFill>
            <a:srgbClr val="A16207"/>
          </a:solidFill>
          <a:ln/>
        </p:spPr>
      </p:sp>
      <p:sp>
        <p:nvSpPr>
          <p:cNvPr id="35" name="Text 33"/>
          <p:cNvSpPr/>
          <p:nvPr/>
        </p:nvSpPr>
        <p:spPr>
          <a:xfrm>
            <a:off x="6263640" y="38404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#4819 Solicitud de acceso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DESKNOW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040880" y="45720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D9EAE7"/>
          </a:solidFill>
          <a:ln w="9525">
            <a:solidFill>
              <a:srgbClr val="D9EA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475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/ Emerging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DeskNow. Familia de soluciones funcionales nativas.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en tres dimensiones distintas. Vertical y Solución NO son niveles jerárquicos.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317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funcional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26517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(jerárquica)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3182112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FINANZAS · OPERACIONES · RR.HH.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383280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3547872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3749040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913632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4114800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Submódulos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4279392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91840" y="2194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0" y="23317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sectorial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474720" y="26517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(transversal — NO jerárquica)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74720" y="3017520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74720" y="3182112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· Educación · Salud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74720" y="3383280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74720" y="3547872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 · Empresa · Sector Público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035040" y="2194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23317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comercial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17920" y="26517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(cliente específico)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17920" y="3017520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3182112"/>
            <a:ext cx="2240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Combinación para un cliente concreto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TAXONOMÍA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organiza DeskNow.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funcional jerárquica + 2 dimensiones transversales.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8046720" cy="4572"/>
          </a:xfrm>
          <a:prstGeom prst="rect">
            <a:avLst/>
          </a:prstGeom>
          <a:solidFill>
            <a:srgbClr val="E9E3D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/ Dominio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0" y="2286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funcional de la organización.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223760" y="2340864"/>
            <a:ext cx="1371600" cy="219456"/>
          </a:xfrm>
          <a:prstGeom prst="roundRect">
            <a:avLst>
              <a:gd name="adj" fmla="val 20833"/>
            </a:avLst>
          </a:prstGeom>
          <a:solidFill>
            <a:srgbClr val="D9EAE7"/>
          </a:solidFill>
          <a:ln w="6350">
            <a:solidFill>
              <a:srgbClr val="D9EA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223760" y="23408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funcional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2971800"/>
            <a:ext cx="8046720" cy="4572"/>
          </a:xfrm>
          <a:prstGeom prst="rect">
            <a:avLst/>
          </a:prstGeom>
          <a:solidFill>
            <a:srgbClr val="E9E3D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651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2651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funcional comercializable.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23760" y="2706624"/>
            <a:ext cx="1371600" cy="219456"/>
          </a:xfrm>
          <a:prstGeom prst="roundRect">
            <a:avLst>
              <a:gd name="adj" fmla="val 20833"/>
            </a:avLst>
          </a:prstGeom>
          <a:solidFill>
            <a:srgbClr val="D9EAE7"/>
          </a:solidFill>
          <a:ln w="6350">
            <a:solidFill>
              <a:srgbClr val="D9EA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0" y="270662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funcional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337560"/>
            <a:ext cx="8046720" cy="4572"/>
          </a:xfrm>
          <a:prstGeom prst="rect">
            <a:avLst/>
          </a:prstGeom>
          <a:solidFill>
            <a:srgbClr val="E9E3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017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8328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funcional dentro de un producto.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3760" y="3072384"/>
            <a:ext cx="1371600" cy="219456"/>
          </a:xfrm>
          <a:prstGeom prst="roundRect">
            <a:avLst>
              <a:gd name="adj" fmla="val 20833"/>
            </a:avLst>
          </a:prstGeom>
          <a:solidFill>
            <a:srgbClr val="D9EAE7"/>
          </a:solidFill>
          <a:ln w="6350">
            <a:solidFill>
              <a:srgbClr val="D9EA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23760" y="307238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funcional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8046720" cy="4572"/>
          </a:xfrm>
          <a:prstGeom prst="rect">
            <a:avLst/>
          </a:prstGeom>
          <a:solidFill>
            <a:srgbClr val="E9E3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383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Submódulo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83280" y="3383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Descomposición más específica.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223760" y="3438144"/>
            <a:ext cx="1371600" cy="219456"/>
          </a:xfrm>
          <a:prstGeom prst="roundRect">
            <a:avLst>
              <a:gd name="adj" fmla="val 20833"/>
            </a:avLst>
          </a:prstGeom>
          <a:solidFill>
            <a:srgbClr val="D9EAE7"/>
          </a:solidFill>
          <a:ln w="6350">
            <a:solidFill>
              <a:srgbClr val="D9EA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0" y="343814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funcional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069080"/>
            <a:ext cx="8046720" cy="4572"/>
          </a:xfrm>
          <a:prstGeom prst="rect">
            <a:avLst/>
          </a:prstGeom>
          <a:solidFill>
            <a:srgbClr val="E9E3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3749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/ configuración sectorial.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223760" y="3803904"/>
            <a:ext cx="1371600" cy="219456"/>
          </a:xfrm>
          <a:prstGeom prst="roundRect">
            <a:avLst>
              <a:gd name="adj" fmla="val 20833"/>
            </a:avLst>
          </a:prstGeom>
          <a:solidFill>
            <a:srgbClr val="FAF8F2"/>
          </a:solidFill>
          <a:ln w="6350">
            <a:solidFill>
              <a:srgbClr val="E9E3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23760" y="38039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Dimensión transversal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434840"/>
            <a:ext cx="8046720" cy="4572"/>
          </a:xfrm>
          <a:prstGeom prst="rect">
            <a:avLst/>
          </a:prstGeom>
          <a:solidFill>
            <a:srgbClr val="E9E3D6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14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38328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Combinación comercial para un cliente.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223760" y="4169664"/>
            <a:ext cx="1371600" cy="219456"/>
          </a:xfrm>
          <a:prstGeom prst="roundRect">
            <a:avLst>
              <a:gd name="adj" fmla="val 20833"/>
            </a:avLst>
          </a:prstGeom>
          <a:solidFill>
            <a:srgbClr val="FAF8F2"/>
          </a:solidFill>
          <a:ln w="6350">
            <a:solidFill>
              <a:srgbClr val="E9E3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23760" y="4169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Dimensión comercial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DESKBRAIN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040880" y="45720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7C7A7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132320" y="475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Vision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DeskBrain — Knowledge, Context &amp; Memory.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sabemos? ¿Cuál es el contexto?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468880"/>
            <a:ext cx="640080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2606040"/>
            <a:ext cx="914400" cy="914400"/>
          </a:xfrm>
          <a:prstGeom prst="ellipse">
            <a:avLst/>
          </a:prstGeom>
          <a:solidFill>
            <a:srgbClr val="0D4F4A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0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828800" y="3657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contextual de la organización.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82880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Decisiones, precedentes, contexto operativo.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DESKTHING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040880" y="45720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D9EAE7"/>
          </a:solidFill>
          <a:ln w="9525">
            <a:solidFill>
              <a:srgbClr val="D9EA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475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DeskThing — Data, Processing &amp; Intelligence.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podemos descubrir, medir, modelar o predecir?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FAF8F2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651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3200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Confiable y trazable.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83280" y="246888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FAF8F2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2651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66160" y="3200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Pipelines durables.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2468880"/>
            <a:ext cx="2606040" cy="2011680"/>
          </a:xfrm>
          <a:prstGeom prst="roundRect">
            <a:avLst>
              <a:gd name="adj" fmla="val 4545"/>
            </a:avLst>
          </a:prstGeom>
          <a:solidFill>
            <a:srgbClr val="FAF8F2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26517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400800" y="32004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explicables.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confiables convertidos en inteligencia utilizable.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DESKSIA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040880" y="45720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7C7A72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132320" y="475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 / Future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DesksIA — Intelligent &amp; Governed Execution.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podemos ejecutar y bajo qué reglas?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468880"/>
            <a:ext cx="6400800" cy="2011680"/>
          </a:xfrm>
          <a:prstGeom prst="roundRect">
            <a:avLst>
              <a:gd name="adj" fmla="val 4545"/>
            </a:avLst>
          </a:prstGeom>
          <a:solidFill>
            <a:srgbClr val="0A3D39"/>
          </a:solidFill>
          <a:ln/>
        </p:spPr>
      </p:sp>
      <p:sp>
        <p:nvSpPr>
          <p:cNvPr id="9" name="Shape 7"/>
          <p:cNvSpPr/>
          <p:nvPr/>
        </p:nvSpPr>
        <p:spPr>
          <a:xfrm>
            <a:off x="4206240" y="2697480"/>
            <a:ext cx="731520" cy="731520"/>
          </a:xfrm>
          <a:prstGeom prst="ellipse">
            <a:avLst/>
          </a:prstGeom>
          <a:solidFill>
            <a:srgbClr val="0D4F4A"/>
          </a:solidFill>
          <a:ln w="19050">
            <a:solidFill>
              <a:srgbClr val="6EE7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0" y="2697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6E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82880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inteligente gobernada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2880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dentro del ecosistema, no fuera de él.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CÓMO TRABAJAN JUNTOS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ecosistema completo en acción.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926080" y="1828800"/>
            <a:ext cx="3291840" cy="457200"/>
          </a:xfrm>
          <a:prstGeom prst="roundRect">
            <a:avLst>
              <a:gd name="adj" fmla="val 10000"/>
            </a:avLst>
          </a:prstGeom>
          <a:solidFill>
            <a:srgbClr val="0D4F4A"/>
          </a:solidFill>
          <a:ln/>
        </p:spPr>
      </p:sp>
      <p:sp>
        <p:nvSpPr>
          <p:cNvPr id="6" name="Text 4"/>
          <p:cNvSpPr/>
          <p:nvPr/>
        </p:nvSpPr>
        <p:spPr>
          <a:xfrm>
            <a:off x="2926080" y="1828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DESKWORK · Work Experience (superficie)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0" y="2286000"/>
            <a:ext cx="0" cy="164592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26080" y="2468880"/>
            <a:ext cx="3291840" cy="457200"/>
          </a:xfrm>
          <a:prstGeom prst="roundRect">
            <a:avLst>
              <a:gd name="adj" fmla="val 10000"/>
            </a:avLst>
          </a:prstGeom>
          <a:solidFill>
            <a:srgbClr val="D9EAE7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468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DESKFLOW · Workflow / Coordination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0" y="2926080"/>
            <a:ext cx="0" cy="137160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2926080"/>
            <a:ext cx="0" cy="137160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0" y="3063240"/>
            <a:ext cx="3657600" cy="0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0" y="3063240"/>
            <a:ext cx="0" cy="137160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3063240"/>
            <a:ext cx="0" cy="137160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3200400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7160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DESKNOW · funciones de negocio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3200400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INTEGRATION · sistemas externos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0" y="3657600"/>
            <a:ext cx="0" cy="164592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84048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TRANSVERSAL CAPABILITIES (intercambian contexto, datos, inteligencia y ejecución)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828800" y="411480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D9EAE7"/>
          </a:solidFill>
          <a:ln/>
        </p:spPr>
      </p:sp>
      <p:sp>
        <p:nvSpPr>
          <p:cNvPr id="22" name="Text 20"/>
          <p:cNvSpPr/>
          <p:nvPr/>
        </p:nvSpPr>
        <p:spPr>
          <a:xfrm>
            <a:off x="1828800" y="4114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DeskBrain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023360" y="411480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D9EAE7"/>
          </a:solidFill>
          <a:ln/>
        </p:spPr>
      </p:sp>
      <p:sp>
        <p:nvSpPr>
          <p:cNvPr id="24" name="Text 22"/>
          <p:cNvSpPr/>
          <p:nvPr/>
        </p:nvSpPr>
        <p:spPr>
          <a:xfrm>
            <a:off x="4023360" y="4114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DeskThing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D9EAE7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41148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DesksIA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4663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usuario trabaja en DeskWork. DeskFlow coordina y ejecuta. El resto del ecosistema lo alimenta.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3D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E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ESTRATEGIA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040880" y="45720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0D4F4A"/>
          </a:solidFill>
          <a:ln w="9525">
            <a:solidFill>
              <a:srgbClr val="0D4F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475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for Integration,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E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Imitation.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2148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antes que reemplazar.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2926080"/>
            <a:ext cx="1645920" cy="594360"/>
          </a:xfrm>
          <a:prstGeom prst="roundRect">
            <a:avLst>
              <a:gd name="adj" fmla="val 9231"/>
            </a:avLst>
          </a:prstGeom>
          <a:solidFill>
            <a:srgbClr val="0D4F4A"/>
          </a:solidFill>
          <a:ln w="9525">
            <a:solidFill>
              <a:srgbClr val="6EE7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9260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834640" y="2926080"/>
            <a:ext cx="1645920" cy="594360"/>
          </a:xfrm>
          <a:prstGeom prst="roundRect">
            <a:avLst>
              <a:gd name="adj" fmla="val 9231"/>
            </a:avLst>
          </a:prstGeom>
          <a:solidFill>
            <a:srgbClr val="0D4F4A"/>
          </a:solidFill>
          <a:ln w="9525">
            <a:solidFill>
              <a:srgbClr val="6EE7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34640" y="29260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2926080"/>
            <a:ext cx="1645920" cy="594360"/>
          </a:xfrm>
          <a:prstGeom prst="roundRect">
            <a:avLst>
              <a:gd name="adj" fmla="val 9231"/>
            </a:avLst>
          </a:prstGeom>
          <a:solidFill>
            <a:srgbClr val="0D4F4A"/>
          </a:solidFill>
          <a:ln w="9525">
            <a:solidFill>
              <a:srgbClr val="6EE7D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29260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75120" y="2926080"/>
            <a:ext cx="1645920" cy="594360"/>
          </a:xfrm>
          <a:prstGeom prst="roundRect">
            <a:avLst>
              <a:gd name="adj" fmla="val 9231"/>
            </a:avLst>
          </a:prstGeom>
          <a:solidFill>
            <a:srgbClr val="0D4F4A"/>
          </a:solidFill>
          <a:ln w="9525">
            <a:solidFill>
              <a:srgbClr val="6EE7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0" y="292608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3749040"/>
            <a:ext cx="1645920" cy="594360"/>
          </a:xfrm>
          <a:prstGeom prst="roundRect">
            <a:avLst>
              <a:gd name="adj" fmla="val 9231"/>
            </a:avLst>
          </a:prstGeom>
          <a:solidFill>
            <a:srgbClr val="0D4F4A"/>
          </a:solidFill>
          <a:ln w="9525">
            <a:solidFill>
              <a:srgbClr val="6EE7D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7490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834640" y="3749040"/>
            <a:ext cx="1645920" cy="594360"/>
          </a:xfrm>
          <a:prstGeom prst="roundRect">
            <a:avLst>
              <a:gd name="adj" fmla="val 9231"/>
            </a:avLst>
          </a:prstGeom>
          <a:solidFill>
            <a:srgbClr val="0D4F4A"/>
          </a:solidFill>
          <a:ln w="9525">
            <a:solidFill>
              <a:srgbClr val="6EE7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34640" y="37490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Zendesk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754880" y="3749040"/>
            <a:ext cx="1645920" cy="594360"/>
          </a:xfrm>
          <a:prstGeom prst="roundRect">
            <a:avLst>
              <a:gd name="adj" fmla="val 9231"/>
            </a:avLst>
          </a:prstGeom>
          <a:solidFill>
            <a:srgbClr val="0D4F4A"/>
          </a:solidFill>
          <a:ln w="9525">
            <a:solidFill>
              <a:srgbClr val="6EE7D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7490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Odoo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675120" y="3749040"/>
            <a:ext cx="1645920" cy="594360"/>
          </a:xfrm>
          <a:prstGeom prst="roundRect">
            <a:avLst>
              <a:gd name="adj" fmla="val 9231"/>
            </a:avLst>
          </a:prstGeom>
          <a:solidFill>
            <a:srgbClr val="0D4F4A"/>
          </a:solidFill>
          <a:ln w="9525">
            <a:solidFill>
              <a:srgbClr val="6EE7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0" y="37490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 para evitar dependencia estructural y preservar interoperabilidad y portabilidad.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· JOURNEY 1 — NUEVA CONTRATACIÓN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ve una contratación con DeskHUB.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914400" y="2103120"/>
            <a:ext cx="7315200" cy="338328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10312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responsable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0" y="2103120"/>
            <a:ext cx="4114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 la solicitud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44144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487168"/>
            <a:ext cx="7315200" cy="338328"/>
          </a:xfrm>
          <a:prstGeom prst="roundRect">
            <a:avLst>
              <a:gd name="adj" fmla="val 13514"/>
            </a:avLst>
          </a:prstGeom>
          <a:solidFill>
            <a:srgbClr val="0D4F4A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487168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DESKWORK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0" y="2487168"/>
            <a:ext cx="4114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superficie / workspace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82549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14400" y="2871216"/>
            <a:ext cx="7315200" cy="338328"/>
          </a:xfrm>
          <a:prstGeom prst="roundRect">
            <a:avLst>
              <a:gd name="adj" fmla="val 13514"/>
            </a:avLst>
          </a:prstGeom>
          <a:solidFill>
            <a:srgbClr val="D9EAE7"/>
          </a:solidFill>
          <a:ln w="12700">
            <a:solidFill>
              <a:srgbClr val="D9EA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287121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DESKFLOW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931920" y="2871216"/>
            <a:ext cx="4114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coordinación y ejecución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20954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3255264"/>
            <a:ext cx="7315200" cy="338328"/>
          </a:xfrm>
          <a:prstGeom prst="roundRect">
            <a:avLst>
              <a:gd name="adj" fmla="val 13514"/>
            </a:avLst>
          </a:prstGeom>
          <a:solidFill>
            <a:srgbClr val="FAF8F2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325526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downstream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31920" y="3255264"/>
            <a:ext cx="4114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DeskHR · DeskTI · BUK · MS · Google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59359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14400" y="3639312"/>
            <a:ext cx="7315200" cy="338328"/>
          </a:xfrm>
          <a:prstGeom prst="roundRect">
            <a:avLst>
              <a:gd name="adj" fmla="val 13514"/>
            </a:avLst>
          </a:prstGeom>
          <a:solidFill>
            <a:srgbClr val="FAF8F2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363931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Aprobaciones + DesksIA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931920" y="3639312"/>
            <a:ext cx="4114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acciones autorizadas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9776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4400" y="4023360"/>
            <a:ext cx="7315200" cy="338328"/>
          </a:xfrm>
          <a:prstGeom prst="roundRect">
            <a:avLst>
              <a:gd name="adj" fmla="val 13514"/>
            </a:avLst>
          </a:prstGeom>
          <a:solidFill>
            <a:srgbClr val="0D4F4A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402336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+ Audit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931920" y="4023360"/>
            <a:ext cx="41148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inmutable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solicitud. Múltiples sistemas coordinados. Un único contexto de trabajo.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· JOURNEY 2 — NEGOCIO GANADO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→ proyecto → SAP → equipos → cierre.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sistemas quedan. La coordinación es nueva.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FAF8F2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43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ganada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783080" y="30175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874520" y="237744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0D4F4A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74520" y="2743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DeskWork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20240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creado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30175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0" y="237744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0D4F4A"/>
          </a:solidFill>
          <a:ln w="12700">
            <a:solidFill>
              <a:srgbClr val="0D4F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2743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DeskFlow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46120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coord.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34840" y="30175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26280" y="237744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FAF8F2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2743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0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de cliente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60720" y="30175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852160" y="237744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FAF8F2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52160" y="2743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897880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Notificados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86600" y="3017520"/>
            <a:ext cx="137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178040" y="2377440"/>
            <a:ext cx="1280160" cy="1463040"/>
          </a:xfrm>
          <a:prstGeom prst="roundRect">
            <a:avLst>
              <a:gd name="adj" fmla="val 5714"/>
            </a:avLst>
          </a:prstGeom>
          <a:solidFill>
            <a:srgbClr val="FAF8F2"/>
          </a:solidFill>
          <a:ln w="12700">
            <a:solidFill>
              <a:srgbClr val="E9E3D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78040" y="27432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223760" y="3246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+ KPI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oportunidad se convierte en operación sin migraciones traumáticas.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· VERTICALES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se adapta a tu organización, no al revés.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Composiciones sectoriales, NO productos independientes.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4688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9E3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4688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24505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 / OSC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3152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Voluntarios, regionales, presupuesto limitado.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91840" y="2286000"/>
            <a:ext cx="24688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9E3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4688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31920" y="24505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Educación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47472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Administrativo, académico, técnico.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2286000"/>
            <a:ext cx="24688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9E3D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46888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675120" y="245059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6217920" y="2926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Compliance, turnos, auditoría.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3566160"/>
            <a:ext cx="24688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9E3D6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749040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88720" y="37307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PYME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731520" y="4206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5-50 personas, varios proveedores.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3291840" y="3566160"/>
            <a:ext cx="24688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9E3D6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3749040"/>
            <a:ext cx="365760" cy="36576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3931920" y="37307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3474720" y="4206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Multi-equipo, multi-sede.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035040" y="3566160"/>
            <a:ext cx="24688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9E3D6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749040"/>
            <a:ext cx="365760" cy="365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675120" y="37307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Público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6217920" y="4206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Transparencia, trazabilidad, escala.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548640" y="48463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arquitectura. Múltiples composiciones sectoriales.</a:t>
            </a:r>
            <a:endParaRPr lang="en-US" sz="1200" dirty="0"/>
          </a:p>
        </p:txBody>
      </p:sp>
      <p:sp>
        <p:nvSpPr>
          <p:cNvPr id="31" name="Text 23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· SERVICES + DESKSOLUTION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040880" y="45720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E9E3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0" y="475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/ Planned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para implementar, evolucionar y construir.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Acompañamiento profesional + capacidad de desarrollo a medida.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91440" cy="91440"/>
          </a:xfrm>
          <a:prstGeom prst="rect">
            <a:avLst/>
          </a:prstGeom>
          <a:solidFill>
            <a:srgbClr val="0D4F4A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377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&amp; Assessment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16352"/>
            <a:ext cx="91440" cy="91440"/>
          </a:xfrm>
          <a:prstGeom prst="rect">
            <a:avLst/>
          </a:prstGeom>
          <a:solidFill>
            <a:srgbClr val="0D4F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7066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145536"/>
            <a:ext cx="91440" cy="91440"/>
          </a:xfrm>
          <a:prstGeom prst="rect">
            <a:avLst/>
          </a:prstGeom>
          <a:solidFill>
            <a:srgbClr val="0D4F4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0358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74720"/>
            <a:ext cx="91440" cy="91440"/>
          </a:xfrm>
          <a:prstGeom prst="rect">
            <a:avLst/>
          </a:prstGeom>
          <a:solidFill>
            <a:srgbClr val="0D4F4A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Intelligence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03904"/>
            <a:ext cx="91440" cy="91440"/>
          </a:xfrm>
          <a:prstGeom prst="rect">
            <a:avLst/>
          </a:prstGeom>
          <a:solidFill>
            <a:srgbClr val="0D4F4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6941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&amp; AI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33088"/>
            <a:ext cx="91440" cy="91440"/>
          </a:xfrm>
          <a:prstGeom prst="rect">
            <a:avLst/>
          </a:prstGeom>
          <a:solidFill>
            <a:srgbClr val="0D4F4A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0233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Services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37760" y="2487168"/>
            <a:ext cx="91440" cy="91440"/>
          </a:xfrm>
          <a:prstGeom prst="rect">
            <a:avLst/>
          </a:prstGeom>
          <a:solidFill>
            <a:srgbClr val="0A3D39"/>
          </a:solidFill>
          <a:ln/>
        </p:spPr>
      </p:sp>
      <p:sp>
        <p:nvSpPr>
          <p:cNvPr id="22" name="Text 20"/>
          <p:cNvSpPr/>
          <p:nvPr/>
        </p:nvSpPr>
        <p:spPr>
          <a:xfrm>
            <a:off x="5166360" y="2377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a medida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37760" y="2816352"/>
            <a:ext cx="91440" cy="91440"/>
          </a:xfrm>
          <a:prstGeom prst="rect">
            <a:avLst/>
          </a:prstGeom>
          <a:solidFill>
            <a:srgbClr val="0A3D39"/>
          </a:solidFill>
          <a:ln/>
        </p:spPr>
      </p:sp>
      <p:sp>
        <p:nvSpPr>
          <p:cNvPr id="24" name="Text 22"/>
          <p:cNvSpPr/>
          <p:nvPr/>
        </p:nvSpPr>
        <p:spPr>
          <a:xfrm>
            <a:off x="5166360" y="27066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custom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37760" y="3145536"/>
            <a:ext cx="91440" cy="91440"/>
          </a:xfrm>
          <a:prstGeom prst="rect">
            <a:avLst/>
          </a:prstGeom>
          <a:solidFill>
            <a:srgbClr val="0A3D39"/>
          </a:solidFill>
          <a:ln/>
        </p:spPr>
      </p:sp>
      <p:sp>
        <p:nvSpPr>
          <p:cNvPr id="26" name="Text 24"/>
          <p:cNvSpPr/>
          <p:nvPr/>
        </p:nvSpPr>
        <p:spPr>
          <a:xfrm>
            <a:off x="5166360" y="30358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Plataformas específicas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937760" y="3474720"/>
            <a:ext cx="91440" cy="91440"/>
          </a:xfrm>
          <a:prstGeom prst="rect">
            <a:avLst/>
          </a:prstGeom>
          <a:solidFill>
            <a:srgbClr val="0A3D39"/>
          </a:solidFill>
          <a:ln/>
        </p:spPr>
      </p:sp>
      <p:sp>
        <p:nvSpPr>
          <p:cNvPr id="28" name="Text 26"/>
          <p:cNvSpPr/>
          <p:nvPr/>
        </p:nvSpPr>
        <p:spPr>
          <a:xfrm>
            <a:off x="51663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937760" y="3803904"/>
            <a:ext cx="91440" cy="91440"/>
          </a:xfrm>
          <a:prstGeom prst="rect">
            <a:avLst/>
          </a:prstGeom>
          <a:solidFill>
            <a:srgbClr val="0A3D39"/>
          </a:solidFill>
          <a:ln/>
        </p:spPr>
      </p:sp>
      <p:sp>
        <p:nvSpPr>
          <p:cNvPr id="30" name="Text 28"/>
          <p:cNvSpPr/>
          <p:nvPr/>
        </p:nvSpPr>
        <p:spPr>
          <a:xfrm>
            <a:off x="5166360" y="369417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Integraciones especializadas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937760" y="4133088"/>
            <a:ext cx="91440" cy="91440"/>
          </a:xfrm>
          <a:prstGeom prst="rect">
            <a:avLst/>
          </a:prstGeom>
          <a:solidFill>
            <a:srgbClr val="0A3D39"/>
          </a:solidFill>
          <a:ln/>
        </p:spPr>
      </p:sp>
      <p:sp>
        <p:nvSpPr>
          <p:cNvPr id="32" name="Text 30"/>
          <p:cNvSpPr/>
          <p:nvPr/>
        </p:nvSpPr>
        <p:spPr>
          <a:xfrm>
            <a:off x="5166360" y="40233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custom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3776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A3D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DESKSOLUTION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8640" y="46177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DeskSolution construye lo que el cliente necesita hoy. Services acompaña la implementación, integración y operación.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· MODELO DE OFERTA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puede incorporar DeskHUB.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modular. Se incorpora por componente.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8046720" cy="4572"/>
          </a:xfrm>
          <a:prstGeom prst="rect">
            <a:avLst/>
          </a:prstGeom>
          <a:solidFill>
            <a:srgbClr val="E9E3D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286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383280" y="2286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DeskWork como espacio de trabajo.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8046720" cy="4572"/>
          </a:xfrm>
          <a:prstGeom prst="rect">
            <a:avLst/>
          </a:prstGeom>
          <a:solidFill>
            <a:srgbClr val="E9E3D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651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Solutions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6517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DeskNow como arquitectura funcional + soluciones nativas.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337560"/>
            <a:ext cx="8046720" cy="4572"/>
          </a:xfrm>
          <a:prstGeom prst="rect">
            <a:avLst/>
          </a:prstGeom>
          <a:solidFill>
            <a:srgbClr val="E9E3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17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Solutions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30175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DeskSolution como línea comercial de desarrollo a medida.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703320"/>
            <a:ext cx="8046720" cy="4572"/>
          </a:xfrm>
          <a:prstGeom prst="rect">
            <a:avLst/>
          </a:prstGeom>
          <a:solidFill>
            <a:srgbClr val="E9E3D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383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33832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DeskBrain / DeskThing / DesksIA como capacidades transversales.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069080"/>
            <a:ext cx="8046720" cy="4572"/>
          </a:xfrm>
          <a:prstGeom prst="rect">
            <a:avLst/>
          </a:prstGeom>
          <a:solidFill>
            <a:srgbClr val="E9E3D6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749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383280" y="37490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Integraciones, partners, conectores.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434840"/>
            <a:ext cx="8046720" cy="4572"/>
          </a:xfrm>
          <a:prstGeom prst="rect">
            <a:avLst/>
          </a:prstGeom>
          <a:solidFill>
            <a:srgbClr val="E9E3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114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0" y="41148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Advisory, Implementation, Integration, Data &amp; AI, Automation, Managed.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· EVOLUCIÓN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dónde evoluciona DeskHUB.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084217" cy="2377440"/>
          </a:xfrm>
          <a:prstGeom prst="roundRect">
            <a:avLst>
              <a:gd name="adj" fmla="val 5060"/>
            </a:avLst>
          </a:prstGeom>
          <a:solidFill>
            <a:srgbClr val="0D4F4A"/>
          </a:solidFill>
          <a:ln w="9525">
            <a:solidFill>
              <a:srgbClr val="0D4F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65960"/>
            <a:ext cx="10842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E7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90133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90133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· Identity · Workflow · Integration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770017" y="1828800"/>
            <a:ext cx="1084217" cy="2377440"/>
          </a:xfrm>
          <a:prstGeom prst="roundRect">
            <a:avLst>
              <a:gd name="adj" fmla="val 5060"/>
            </a:avLst>
          </a:prstGeom>
          <a:solidFill>
            <a:srgbClr val="0D4F4A"/>
          </a:solidFill>
          <a:ln w="9525">
            <a:solidFill>
              <a:srgbClr val="0D4F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70017" y="1965960"/>
            <a:ext cx="10842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E7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61457" y="2377440"/>
            <a:ext cx="90133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Solutions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61457" y="3017520"/>
            <a:ext cx="90133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DeskNow madurando por dominio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99954" y="1828800"/>
            <a:ext cx="1084217" cy="2377440"/>
          </a:xfrm>
          <a:prstGeom prst="roundRect">
            <a:avLst>
              <a:gd name="adj" fmla="val 5060"/>
            </a:avLst>
          </a:prstGeom>
          <a:solidFill>
            <a:srgbClr val="0D4F4A"/>
          </a:solidFill>
          <a:ln w="9525">
            <a:solidFill>
              <a:srgbClr val="0D4F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99954" y="1965960"/>
            <a:ext cx="10842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E7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991394" y="2377440"/>
            <a:ext cx="90133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Solutions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91394" y="3017520"/>
            <a:ext cx="90133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DeskSolution facturando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029891" y="1828800"/>
            <a:ext cx="1084217" cy="2377440"/>
          </a:xfrm>
          <a:prstGeom prst="roundRect">
            <a:avLst>
              <a:gd name="adj" fmla="val 5060"/>
            </a:avLst>
          </a:prstGeom>
          <a:solidFill>
            <a:srgbClr val="FAF8F2"/>
          </a:solidFill>
          <a:ln w="9525">
            <a:solidFill>
              <a:srgbClr val="0D4F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9891" y="1965960"/>
            <a:ext cx="10842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121331" y="2377440"/>
            <a:ext cx="90133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21331" y="3017520"/>
            <a:ext cx="90133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DeskBrain activo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159829" y="1828800"/>
            <a:ext cx="1084217" cy="2377440"/>
          </a:xfrm>
          <a:prstGeom prst="roundRect">
            <a:avLst>
              <a:gd name="adj" fmla="val 5060"/>
            </a:avLst>
          </a:prstGeom>
          <a:solidFill>
            <a:srgbClr val="FAF8F2"/>
          </a:solidFill>
          <a:ln w="9525">
            <a:solidFill>
              <a:srgbClr val="0D4F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59829" y="1965960"/>
            <a:ext cx="10842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51269" y="2377440"/>
            <a:ext cx="90133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251269" y="3017520"/>
            <a:ext cx="90133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DeskThing activo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89766" y="1828800"/>
            <a:ext cx="1084217" cy="2377440"/>
          </a:xfrm>
          <a:prstGeom prst="roundRect">
            <a:avLst>
              <a:gd name="adj" fmla="val 5060"/>
            </a:avLst>
          </a:prstGeom>
          <a:solidFill>
            <a:srgbClr val="FAF8F2"/>
          </a:solidFill>
          <a:ln w="9525">
            <a:solidFill>
              <a:srgbClr val="0D4F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89766" y="1965960"/>
            <a:ext cx="10842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381206" y="2377440"/>
            <a:ext cx="90133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81206" y="3017520"/>
            <a:ext cx="90133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DesksIA bajo políticas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419703" y="1828800"/>
            <a:ext cx="1084217" cy="2377440"/>
          </a:xfrm>
          <a:prstGeom prst="roundRect">
            <a:avLst>
              <a:gd name="adj" fmla="val 5060"/>
            </a:avLst>
          </a:prstGeom>
          <a:solidFill>
            <a:srgbClr val="FAF8F2"/>
          </a:solidFill>
          <a:ln w="9525">
            <a:solidFill>
              <a:srgbClr val="0D4F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19703" y="1965960"/>
            <a:ext cx="10842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511143" y="2377440"/>
            <a:ext cx="90133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Execution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11143" y="3017520"/>
            <a:ext cx="90133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DesksIA con bounded autonomy ampliada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4572000"/>
            <a:ext cx="137160" cy="137160"/>
          </a:xfrm>
          <a:prstGeom prst="rect">
            <a:avLst/>
          </a:prstGeom>
          <a:solidFill>
            <a:srgbClr val="0D4F4A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" y="45262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1645920" y="4572000"/>
            <a:ext cx="137160" cy="137160"/>
          </a:xfrm>
          <a:prstGeom prst="rect">
            <a:avLst/>
          </a:prstGeom>
          <a:solidFill>
            <a:srgbClr val="FAF8F2"/>
          </a:solidFill>
          <a:ln w="6350">
            <a:solidFill>
              <a:srgbClr val="0D4F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28800" y="4526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Vision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· VISIÓN ESTRATÉGICA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863840" y="365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48640" cy="0"/>
          </a:xfrm>
          <a:prstGeom prst="line">
            <a:avLst/>
          </a:prstGeom>
          <a:noFill/>
          <a:ln w="38100">
            <a:solidFill>
              <a:srgbClr val="0D4F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1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un ecosistema que permita a organizaciones empresariales e institucionales integrar, operar, comprender y evolucionar su trabajo sin tener que reconstruir desde cero su arquitectura tecnológica.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657600"/>
            <a:ext cx="8046720" cy="0"/>
          </a:xfrm>
          <a:prstGeom prst="line">
            <a:avLst/>
          </a:prstGeom>
          <a:noFill/>
          <a:ln w="12700">
            <a:solidFill>
              <a:srgbClr val="E9E3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8404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inicial · territorio estratégico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Chile · LATAM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7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 · Master Presentation v1.2.1 · sept 2026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3D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0D4F4A">
              <a:alpha val="4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0" y="3314700"/>
            <a:ext cx="4572000" cy="4572000"/>
          </a:xfrm>
          <a:prstGeom prst="ellipse">
            <a:avLst/>
          </a:prstGeom>
          <a:solidFill>
            <a:srgbClr val="6EE7D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023360" y="1280160"/>
            <a:ext cx="1097280" cy="1097280"/>
          </a:xfrm>
          <a:prstGeom prst="roundRect">
            <a:avLst>
              <a:gd name="adj" fmla="val 15000"/>
            </a:avLst>
          </a:prstGeom>
          <a:solidFill>
            <a:srgbClr val="0D4F4A"/>
          </a:solidFill>
          <a:ln w="19050">
            <a:solidFill>
              <a:srgbClr val="6EE7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0" y="1417320"/>
            <a:ext cx="0" cy="822960"/>
          </a:xfrm>
          <a:prstGeom prst="line">
            <a:avLst/>
          </a:prstGeom>
          <a:noFill/>
          <a:ln w="25400">
            <a:solidFill>
              <a:srgbClr val="6EE7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242816" y="1700784"/>
            <a:ext cx="164592" cy="164592"/>
          </a:xfrm>
          <a:prstGeom prst="ellipse">
            <a:avLst/>
          </a:prstGeom>
          <a:solidFill>
            <a:srgbClr val="D9EAE7"/>
          </a:solidFill>
          <a:ln/>
        </p:spPr>
      </p:sp>
      <p:sp>
        <p:nvSpPr>
          <p:cNvPr id="7" name="Shape 5"/>
          <p:cNvSpPr/>
          <p:nvPr/>
        </p:nvSpPr>
        <p:spPr>
          <a:xfrm>
            <a:off x="4736592" y="1700784"/>
            <a:ext cx="164592" cy="164592"/>
          </a:xfrm>
          <a:prstGeom prst="ellipse">
            <a:avLst/>
          </a:prstGeom>
          <a:solidFill>
            <a:srgbClr val="D9EAE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DeskHUB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3383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 para evitar dependencia estructural y preservar interoperabilidad y portabilidad.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97680" y="4023360"/>
            <a:ext cx="548640" cy="0"/>
          </a:xfrm>
          <a:prstGeom prst="line">
            <a:avLst/>
          </a:prstGeom>
          <a:noFill/>
          <a:ln w="25400">
            <a:solidFill>
              <a:srgbClr val="6EE7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160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6E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Conversemos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EAE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hola@deskhub.example.com · deskhub.example.com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82346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D9EA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LAB · Master Presentation v1.2.1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Fabric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DeskHUB — Ecosistema de Trabajo Empresarial e Institucional</dc:title>
  <dc:subject>Master Presentation v1.2.1</dc:subject>
  <dc:creator>DeskHUB / Fabric Lab</dc:creator>
  <cp:lastModifiedBy>DeskHUB / Fabric Lab</cp:lastModifiedBy>
  <cp:revision>1</cp:revision>
  <dcterms:created xsi:type="dcterms:W3CDTF">2026-09-16T14:15:32Z</dcterms:created>
  <dcterms:modified xsi:type="dcterms:W3CDTF">2026-09-16T14:15:32Z</dcterms:modified>
</cp:coreProperties>
</file>